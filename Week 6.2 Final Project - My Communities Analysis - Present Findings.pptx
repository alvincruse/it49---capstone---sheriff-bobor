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60" r:id="rId2"/>
    <p:sldId id="284" r:id="rId3"/>
    <p:sldId id="283" r:id="rId4"/>
    <p:sldId id="285" r:id="rId5"/>
    <p:sldId id="286" r:id="rId6"/>
    <p:sldId id="287" r:id="rId7"/>
    <p:sldId id="289" r:id="rId8"/>
    <p:sldId id="265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8/13/2025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8/13/2025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8/13/2025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48A87A34-81AB-432B-8DAE-1953F412C126}" type="datetimeFigureOut">
              <a:rPr lang="en-US" dirty="0"/>
              <a:pPr/>
              <a:t>8/13/2025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8/13/2025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983E73-E2F6-40B0-8DA8-A0D8D223CE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45028" y="3269554"/>
            <a:ext cx="5050972" cy="2247117"/>
          </a:xfrm>
        </p:spPr>
        <p:txBody>
          <a:bodyPr>
            <a:normAutofit/>
          </a:bodyPr>
          <a:lstStyle/>
          <a:p>
            <a:r>
              <a:rPr lang="en-US" sz="2000" b="1" dirty="0">
                <a:latin typeface="Avenir Next"/>
              </a:rPr>
              <a:t>Course: IT143 - Database Design and Analysis</a:t>
            </a:r>
          </a:p>
          <a:p>
            <a:r>
              <a:rPr lang="en-US" sz="2000" b="1" dirty="0">
                <a:latin typeface="Avenir Next"/>
              </a:rPr>
              <a:t>Presented By</a:t>
            </a:r>
          </a:p>
          <a:p>
            <a:r>
              <a:rPr lang="en-US" sz="2000" b="1" dirty="0">
                <a:latin typeface="Avenir Next"/>
              </a:rPr>
              <a:t>Sheriff Ejemudaro Bobor</a:t>
            </a:r>
          </a:p>
          <a:p>
            <a:r>
              <a:rPr lang="en-US" sz="2000" b="1" dirty="0">
                <a:latin typeface="Avenir Next"/>
              </a:rPr>
              <a:t>Date: 06-08-2025</a:t>
            </a:r>
          </a:p>
          <a:p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5FA66C5-2D64-59AE-3372-1BA888FC2F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3231" y="460645"/>
            <a:ext cx="4851026" cy="2247117"/>
          </a:xfrm>
        </p:spPr>
        <p:txBody>
          <a:bodyPr/>
          <a:lstStyle/>
          <a:p>
            <a:br>
              <a:rPr lang="en-US" dirty="0">
                <a:latin typeface="Avenir Next"/>
              </a:rPr>
            </a:br>
            <a:r>
              <a:rPr lang="en-US" dirty="0">
                <a:latin typeface="Avenir Next"/>
              </a:rPr>
              <a:t>My Communities Analysis - Present Findings</a:t>
            </a:r>
            <a:br>
              <a:rPr lang="en-US" dirty="0">
                <a:latin typeface="Avenir Next"/>
              </a:rPr>
            </a:br>
            <a:endParaRPr lang="en-US" b="1" dirty="0">
              <a:latin typeface="Avenir Next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27514D4-BA44-2036-3A49-32CB6F4E13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76166" y="1"/>
            <a:ext cx="6215834" cy="6106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05535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393793-E660-04F5-EF38-8D5340FC9E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venir Next"/>
              </a:rPr>
              <a:t>Project Overview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770D7E2B-BE17-F9B2-88BA-90D8AC217FB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451579" y="2353420"/>
            <a:ext cx="10609792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venir Next"/>
              </a:rPr>
              <a:t>What: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venir Next"/>
              </a:rPr>
              <a:t> Performed a SQL-based analysis of two student-focused datasets to identify trends in academic success.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en-US" altLang="en-US" sz="1800" b="1" dirty="0">
              <a:latin typeface="Avenir N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venir Next"/>
              </a:rPr>
              <a:t>Why: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venir Next"/>
              </a:rPr>
              <a:t> To uncover insights that can guide educators, parents, and policymakers in improving student outcomes.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venir N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venir Next"/>
              </a:rPr>
              <a:t>How: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venir Next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venir Next"/>
              </a:rPr>
              <a:t>Imported datasets into SQL Server.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venir Next"/>
              </a:rPr>
              <a:t>Developed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venir Next"/>
              </a:rPr>
              <a:t>four analytical questions per dataset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venir Next"/>
              </a:rPr>
              <a:t>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venir Next"/>
              </a:rPr>
              <a:t>Wrote and executed T-SQL queries in SSMS.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venir Next"/>
              </a:rPr>
              <a:t>Interpreted findings for decision-making.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08788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83C2BD-3A2E-AEF6-B53D-00CB4EB2BE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7779" y="641233"/>
            <a:ext cx="9603275" cy="1049235"/>
          </a:xfrm>
        </p:spPr>
        <p:txBody>
          <a:bodyPr/>
          <a:lstStyle/>
          <a:p>
            <a:r>
              <a:rPr lang="en-US" dirty="0">
                <a:latin typeface="Avenir Next"/>
              </a:rPr>
              <a:t>Community 1: Student Study Habits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D44BD1C-27CC-7B38-EF2A-B8172BD8098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451579" y="2032879"/>
            <a:ext cx="9679475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venir Next"/>
              </a:rPr>
              <a:t>Dataset Focus: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venir Next"/>
              </a:rPr>
              <a:t> Relationship between lifestyle choices, study habits, and academic performance.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venir Next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venir Next"/>
              </a:rPr>
              <a:t>Key Stakeholders:</a:t>
            </a:r>
            <a:r>
              <a:rPr lang="en-US" altLang="en-US" sz="1800" dirty="0">
                <a:latin typeface="Avenir Next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venir Next"/>
              </a:rPr>
              <a:t>School administrators, Teachers &amp; academic advisors and Parents.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venir N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venir Next"/>
              </a:rPr>
              <a:t>Goal: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venir Next"/>
              </a:rPr>
              <a:t> Discover how factors like study hours, sleep, attendance, and extracurricular involvement impact final grades.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venir N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venir Next"/>
              </a:rPr>
              <a:t>Table: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venir Next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venir Next"/>
              </a:rPr>
              <a:t>student_study_habits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venir N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venir N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venir Next"/>
              </a:rPr>
              <a:t>Sample Columns:</a:t>
            </a:r>
            <a:r>
              <a:rPr lang="en-US" altLang="en-US" sz="1800" dirty="0">
                <a:latin typeface="Avenir Next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venir Next"/>
              </a:rPr>
              <a:t>study_hours_per_week, sleep_hours_per_day, attendance_percentage, final_grade, extracurricular_Yes, internet_access_Yes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69484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46DAEE-A451-A296-63B7-B169A8674C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venir Next"/>
              </a:rPr>
              <a:t>Community 2: Student Performance Data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18479901-F317-BC22-99DC-93D44862769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451579" y="2032878"/>
            <a:ext cx="9695392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venir Next"/>
              </a:rPr>
              <a:t>Dataset Focus: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venir Next"/>
              </a:rPr>
              <a:t> How personal characteristics, family background, and activities influence academic results.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venir N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venir Next"/>
              </a:rPr>
              <a:t>Key Stakeholders:</a:t>
            </a:r>
            <a:r>
              <a:rPr lang="en-US" altLang="en-US" sz="1800" dirty="0">
                <a:latin typeface="Avenir Next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venir Next"/>
              </a:rPr>
              <a:t>School leadership teams, Educational researchers and Parents.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venir N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venir Next"/>
              </a:rPr>
              <a:t>Goal: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venir Next"/>
              </a:rPr>
              <a:t> Identify support and activity patterns that affect GPA and grade class.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venir N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venir Next"/>
              </a:rPr>
              <a:t>Table: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venir Next"/>
              </a:rPr>
              <a:t> Student_performance_data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venir N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venir Next"/>
              </a:rPr>
              <a:t>Sample Columns:</a:t>
            </a:r>
            <a:r>
              <a:rPr lang="en-US" altLang="en-US" sz="1800" dirty="0">
                <a:latin typeface="Avenir Next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venir Next"/>
              </a:rPr>
              <a:t>ParentalEducation, StudyTimeWeekly, Tutoring, ParentalSupport, Extracurricular, Sports, Music, Volunteering, GPA.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29344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7264B9-05B4-08A3-89E9-4932391E49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venir Next"/>
              </a:rPr>
              <a:t>Key Findings: Student Study Habits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7E32A3-839A-46F6-AAB0-ACB3BD1CDF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800" dirty="0">
                <a:latin typeface="Avenir Next"/>
              </a:rPr>
              <a:t>Students who study 15 or more hours per week consistently achieve higher final grades compared to those studying under 10 hours.</a:t>
            </a:r>
          </a:p>
          <a:p>
            <a:r>
              <a:rPr lang="en-US" sz="1800" dirty="0">
                <a:latin typeface="Avenir Next"/>
              </a:rPr>
              <a:t>Maintaining 7–8 hours of sleep per day is strongly associated with better attendance and higher academic performance.</a:t>
            </a:r>
          </a:p>
          <a:p>
            <a:r>
              <a:rPr lang="en-US" sz="1800" dirty="0">
                <a:latin typeface="Avenir Next"/>
              </a:rPr>
              <a:t>Participation in extracurricular activities is linked to a slight improvement in overall grades.</a:t>
            </a:r>
          </a:p>
          <a:p>
            <a:r>
              <a:rPr lang="en-US" sz="1800" dirty="0">
                <a:latin typeface="Avenir Next"/>
              </a:rPr>
              <a:t>Students with reliable internet access tend to complete more assignments and submit them on time.</a:t>
            </a:r>
          </a:p>
        </p:txBody>
      </p:sp>
    </p:spTree>
    <p:extLst>
      <p:ext uri="{BB962C8B-B14F-4D97-AF65-F5344CB8AC3E}">
        <p14:creationId xmlns:p14="http://schemas.microsoft.com/office/powerpoint/2010/main" val="12162671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B4B1BC-C01C-EA28-6BB7-92FE8D4F4D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Findings: Student Performance Data</a:t>
            </a:r>
            <a:endParaRPr lang="en-US" dirty="0">
              <a:latin typeface="Avenir Nex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BEA5E4-EFE2-0BBE-62C3-CB2B4D9D5D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Avenir Next"/>
              </a:rPr>
              <a:t>Students with strong parental support consistently achieve higher GPAs compared to peers with little or no support.</a:t>
            </a:r>
          </a:p>
          <a:p>
            <a:r>
              <a:rPr lang="en-US" dirty="0">
                <a:latin typeface="Avenir Next"/>
              </a:rPr>
              <a:t>Volunteering participation is associated with improved GPA and stronger attendance records.</a:t>
            </a:r>
          </a:p>
          <a:p>
            <a:r>
              <a:rPr lang="en-US" dirty="0">
                <a:latin typeface="Avenir Next"/>
              </a:rPr>
              <a:t>Tutoring provides the greatest benefit to students who have frequent absences.</a:t>
            </a:r>
          </a:p>
          <a:p>
            <a:r>
              <a:rPr lang="en-US" dirty="0">
                <a:latin typeface="Avenir Next"/>
              </a:rPr>
              <a:t>Involvement in sports or music is linked to slightly higher overall class grades.</a:t>
            </a:r>
          </a:p>
        </p:txBody>
      </p:sp>
    </p:spTree>
    <p:extLst>
      <p:ext uri="{BB962C8B-B14F-4D97-AF65-F5344CB8AC3E}">
        <p14:creationId xmlns:p14="http://schemas.microsoft.com/office/powerpoint/2010/main" val="28240664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6AAB84-1932-E643-9546-55E4F70341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394B15-8F95-6FAE-268D-9F4B5C6CAB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venir Next"/>
              </a:rPr>
              <a:t>Recommendations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5244CF05-230A-2F4A-FDB6-CF9897596C2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451579" y="2330819"/>
            <a:ext cx="10609792" cy="16230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1800" dirty="0">
                <a:latin typeface="Avenir Next"/>
              </a:rPr>
              <a:t>Encourage balance between academics, rest, and extracurricular activities.</a:t>
            </a:r>
          </a:p>
          <a:p>
            <a:r>
              <a:rPr lang="en-US" sz="1800" dirty="0">
                <a:latin typeface="Avenir Next"/>
              </a:rPr>
              <a:t>Strengthen parental engagement programs.</a:t>
            </a:r>
          </a:p>
          <a:p>
            <a:r>
              <a:rPr lang="en-US" sz="1800" dirty="0">
                <a:latin typeface="Avenir Next"/>
              </a:rPr>
              <a:t>Provide targeted tutoring for students with high absences or low support.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74357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22DB41-E182-40FF-9284-0FCC3A94CA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3599" y="2323470"/>
            <a:ext cx="1838961" cy="1105530"/>
          </a:xfrm>
        </p:spPr>
        <p:txBody>
          <a:bodyPr/>
          <a:lstStyle/>
          <a:p>
            <a:r>
              <a:rPr lang="en-US" b="1" cap="none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Thank </a:t>
            </a:r>
            <a:r>
              <a:rPr lang="en-US" b="1" cap="none" dirty="0">
                <a:effectLst/>
                <a:latin typeface="Avenir Next"/>
                <a:ea typeface="Calibri" panose="020F0502020204030204" pitchFamily="34" charset="0"/>
                <a:cs typeface="Times New Roman" panose="02020603050405020304" pitchFamily="18" charset="0"/>
              </a:rPr>
              <a:t>You</a:t>
            </a:r>
            <a:br>
              <a:rPr lang="en-US" sz="1800" cap="none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US" cap="none" dirty="0"/>
          </a:p>
        </p:txBody>
      </p:sp>
      <p:pic>
        <p:nvPicPr>
          <p:cNvPr id="5126" name="Picture 6" descr="cloud computing concept">
            <a:extLst>
              <a:ext uri="{FF2B5EF4-FFF2-40B4-BE49-F238E27FC236}">
                <a16:creationId xmlns:a16="http://schemas.microsoft.com/office/drawing/2014/main" id="{E0EF9DC1-71E6-96DC-CF2B-A4EC3129FC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54486" y="-1"/>
            <a:ext cx="6237514" cy="61286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63986470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TM10001114[[fn=Gallery]]</Template>
  <TotalTime>2201</TotalTime>
  <Words>433</Words>
  <Application>Microsoft Office PowerPoint</Application>
  <PresentationFormat>Widescreen</PresentationFormat>
  <Paragraphs>50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Avenir Next</vt:lpstr>
      <vt:lpstr>Calibri</vt:lpstr>
      <vt:lpstr>Gill Sans MT</vt:lpstr>
      <vt:lpstr>Times New Roman</vt:lpstr>
      <vt:lpstr>Gallery</vt:lpstr>
      <vt:lpstr> My Communities Analysis - Present Findings </vt:lpstr>
      <vt:lpstr>Project Overview</vt:lpstr>
      <vt:lpstr>Community 1: Student Study Habits</vt:lpstr>
      <vt:lpstr>Community 2: Student Performance Data</vt:lpstr>
      <vt:lpstr>Key Findings: Student Study Habits</vt:lpstr>
      <vt:lpstr>Key Findings: Student Performance Data</vt:lpstr>
      <vt:lpstr>Recommendations</vt:lpstr>
      <vt:lpstr>Thank You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SMINEP DRINKS</dc:title>
  <dc:creator>Sheriff</dc:creator>
  <cp:lastModifiedBy>Sheriff Bobor</cp:lastModifiedBy>
  <cp:revision>17</cp:revision>
  <dcterms:created xsi:type="dcterms:W3CDTF">2023-07-13T16:12:40Z</dcterms:created>
  <dcterms:modified xsi:type="dcterms:W3CDTF">2025-08-13T12:37:33Z</dcterms:modified>
</cp:coreProperties>
</file>